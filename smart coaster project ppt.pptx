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0" r:id="rId5"/>
    <p:sldId id="261" r:id="rId6"/>
    <p:sldId id="269" r:id="rId7"/>
    <p:sldId id="262" r:id="rId8"/>
    <p:sldId id="263" r:id="rId9"/>
    <p:sldId id="264" r:id="rId10"/>
    <p:sldId id="278" r:id="rId11"/>
    <p:sldId id="277" r:id="rId12"/>
    <p:sldId id="281" r:id="rId13"/>
    <p:sldId id="282" r:id="rId14"/>
    <p:sldId id="283" r:id="rId15"/>
    <p:sldId id="286" r:id="rId16"/>
    <p:sldId id="284" r:id="rId17"/>
    <p:sldId id="287" r:id="rId18"/>
    <p:sldId id="271" r:id="rId19"/>
    <p:sldId id="272" r:id="rId20"/>
    <p:sldId id="273" r:id="rId21"/>
    <p:sldId id="268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92" d="100"/>
          <a:sy n="92" d="100"/>
        </p:scale>
        <p:origin x="75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7746E7-397E-4D4D-820D-BA178E42F3C7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2E3AFF-A9DD-4C63-A864-300B48EA35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79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for student teams to document their IoT product teardown. Duplicate and fill in all placeholders.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product details. Take a clean photo before disassembly.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 slide. Draw the architecture showing how 5 subsystems interconnect.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sensor, read IC markings and find the datasheet. Include close-up photos of sensor ICs and their placement context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MCU/SoC is usually the largest IC. Include photos showing the chip markings clearly and the surrounding decoupling/crystal 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sensor, read IC markings and find the datasheet. Include close-up photos of sensor ICs and their placement context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the antenna structure and ground clearance zone. Show the radio IC markings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the power section — regulators, inductors, capacitors. Show the input connector or battery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actuators — speakers, LEDs, motors, displays. Show driver ICs and their surrounding 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actuators — speakers, LEDs, motors, displays. Show driver ICs and their surrounding 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actuators — speakers, LEDs, motors, displays. Show driver ICs and their surrounding 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actuators — speakers, LEDs, motors, displays. Show driver ICs and their surrounding 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actuators — speakers, LEDs, motors, displays. Show driver ICs and their surrounding 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checklist item should be completed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3" name="Shape 1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4" name="Shape 2"/>
          <p:cNvSpPr/>
          <p:nvPr/>
        </p:nvSpPr>
        <p:spPr>
          <a:xfrm>
            <a:off x="548640" y="1005840"/>
            <a:ext cx="2286000" cy="329184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5" name="Text 3"/>
          <p:cNvSpPr/>
          <p:nvPr/>
        </p:nvSpPr>
        <p:spPr>
          <a:xfrm>
            <a:off x="548640" y="100584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 TEMPLATE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1371600" cy="0"/>
          </a:xfrm>
          <a:prstGeom prst="line">
            <a:avLst/>
          </a:prstGeom>
          <a:noFill/>
          <a:ln w="3175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02336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Advanced IoT Systems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291584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KLE Technological University  •  ECE Department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solidFill>
            <a:srgbClr val="D35400"/>
          </a:solidFill>
        </p:spPr>
      </p:sp>
      <p:sp>
        <p:nvSpPr>
          <p:cNvPr id="12" name="Text 10"/>
          <p:cNvSpPr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2286000" cy="457200"/>
          </a:xfrm>
          <a:prstGeom prst="rect">
            <a:avLst/>
          </a:prstGeom>
          <a:solidFill>
            <a:srgbClr val="2471A3"/>
          </a:solidFill>
        </p:spPr>
      </p:sp>
      <p:sp>
        <p:nvSpPr>
          <p:cNvPr id="14" name="Text 12"/>
          <p:cNvSpPr/>
          <p:nvPr/>
        </p:nvSpPr>
        <p:spPr>
          <a:xfrm>
            <a:off x="6400800" y="18288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2468880"/>
            <a:ext cx="2286000" cy="457200"/>
          </a:xfrm>
          <a:prstGeom prst="rect">
            <a:avLst/>
          </a:prstGeom>
          <a:solidFill>
            <a:srgbClr val="8E44AD"/>
          </a:solidFill>
        </p:spPr>
      </p:sp>
      <p:sp>
        <p:nvSpPr>
          <p:cNvPr id="16" name="Text 14"/>
          <p:cNvSpPr/>
          <p:nvPr/>
        </p:nvSpPr>
        <p:spPr>
          <a:xfrm>
            <a:off x="6400800" y="24688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COMMUNICATE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108960"/>
            <a:ext cx="2286000" cy="457200"/>
          </a:xfrm>
          <a:prstGeom prst="rect">
            <a:avLst/>
          </a:prstGeom>
          <a:solidFill>
            <a:srgbClr val="1E8449"/>
          </a:solidFill>
        </p:spPr>
      </p:sp>
      <p:sp>
        <p:nvSpPr>
          <p:cNvPr id="18" name="Text 16"/>
          <p:cNvSpPr/>
          <p:nvPr/>
        </p:nvSpPr>
        <p:spPr>
          <a:xfrm>
            <a:off x="6400800" y="31089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POWER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749040"/>
            <a:ext cx="2286000" cy="45720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20" name="Text 18"/>
          <p:cNvSpPr/>
          <p:nvPr/>
        </p:nvSpPr>
        <p:spPr>
          <a:xfrm>
            <a:off x="6400800" y="37490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ACTUATE</a:t>
            </a:r>
            <a:endParaRPr lang="en-US" sz="1200" dirty="0"/>
          </a:p>
        </p:txBody>
      </p:sp>
      <p:sp>
        <p:nvSpPr>
          <p:cNvPr id="21" name="Rectangle 20"/>
          <p:cNvSpPr/>
          <p:nvPr/>
        </p:nvSpPr>
        <p:spPr>
          <a:xfrm>
            <a:off x="224058" y="1417320"/>
            <a:ext cx="608524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Smart Coaster — Hydration Tracker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PROBLEM STATEMENT:</a:t>
            </a:r>
            <a:endParaRPr lang="en-US" sz="2800" dirty="0"/>
          </a:p>
        </p:txBody>
      </p:sp>
      <p:sp>
        <p:nvSpPr>
          <p:cNvPr id="26" name="TextBox 25"/>
          <p:cNvSpPr txBox="1"/>
          <p:nvPr/>
        </p:nvSpPr>
        <p:spPr>
          <a:xfrm>
            <a:off x="636145" y="1584164"/>
            <a:ext cx="393585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Most people fail to drink adequate water daily, leading to fatigue, headaches, and reduced cognitive performance. Existing hydration trackers require manual logging or smart bottles that are expensive and bottle-specific. No passive tracking solution exists for any cup or glass.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105" y="1267172"/>
            <a:ext cx="3783711" cy="29924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BLOCK DIAGRAM: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Map the product to the five IoT subsystems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8288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80160"/>
            <a:ext cx="1353312" cy="822960"/>
          </a:xfrm>
          <a:prstGeom prst="rect">
            <a:avLst/>
          </a:prstGeom>
          <a:solidFill>
            <a:srgbClr val="D35400"/>
          </a:solidFill>
        </p:spPr>
      </p:sp>
      <p:sp>
        <p:nvSpPr>
          <p:cNvPr id="7" name="Text 5"/>
          <p:cNvSpPr/>
          <p:nvPr/>
        </p:nvSpPr>
        <p:spPr>
          <a:xfrm>
            <a:off x="502920" y="1335024"/>
            <a:ext cx="1353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09344"/>
            <a:ext cx="1353312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Sensors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Transducers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56232" y="1481328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45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12264" y="1280160"/>
            <a:ext cx="1353312" cy="822960"/>
          </a:xfrm>
          <a:prstGeom prst="rect">
            <a:avLst/>
          </a:prstGeom>
          <a:solidFill>
            <a:srgbClr val="2471A3"/>
          </a:solidFill>
        </p:spPr>
      </p:sp>
      <p:sp>
        <p:nvSpPr>
          <p:cNvPr id="11" name="Text 9"/>
          <p:cNvSpPr/>
          <p:nvPr/>
        </p:nvSpPr>
        <p:spPr>
          <a:xfrm>
            <a:off x="2112264" y="1335024"/>
            <a:ext cx="1353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12264" y="1609344"/>
            <a:ext cx="1353312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MCU / SoC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&amp; Memory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65576" y="1481328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45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21608" y="1280160"/>
            <a:ext cx="1353312" cy="822960"/>
          </a:xfrm>
          <a:prstGeom prst="rect">
            <a:avLst/>
          </a:prstGeom>
          <a:solidFill>
            <a:srgbClr val="8E44AD"/>
          </a:solidFill>
        </p:spPr>
      </p:sp>
      <p:sp>
        <p:nvSpPr>
          <p:cNvPr id="15" name="Text 13"/>
          <p:cNvSpPr/>
          <p:nvPr/>
        </p:nvSpPr>
        <p:spPr>
          <a:xfrm>
            <a:off x="3721608" y="1335024"/>
            <a:ext cx="1353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COMMUNICATE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21608" y="1609344"/>
            <a:ext cx="1353312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Wireless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Radio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4920" y="1481328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45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330952" y="1280160"/>
            <a:ext cx="1353312" cy="822960"/>
          </a:xfrm>
          <a:prstGeom prst="rect">
            <a:avLst/>
          </a:prstGeom>
          <a:solidFill>
            <a:srgbClr val="1E8449"/>
          </a:solidFill>
        </p:spPr>
      </p:sp>
      <p:sp>
        <p:nvSpPr>
          <p:cNvPr id="19" name="Text 17"/>
          <p:cNvSpPr/>
          <p:nvPr/>
        </p:nvSpPr>
        <p:spPr>
          <a:xfrm>
            <a:off x="5330952" y="1335024"/>
            <a:ext cx="1353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POWER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30952" y="1609344"/>
            <a:ext cx="1353312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Supply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Regulation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84264" y="1481328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45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40296" y="1280160"/>
            <a:ext cx="1353312" cy="82296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23" name="Text 21"/>
          <p:cNvSpPr/>
          <p:nvPr/>
        </p:nvSpPr>
        <p:spPr>
          <a:xfrm>
            <a:off x="6940296" y="1335024"/>
            <a:ext cx="1353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ACTUATE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0296" y="1609344"/>
            <a:ext cx="1353312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Outputs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Feedback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2377440"/>
            <a:ext cx="813816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7" name="Rounded Rectangle 3"/>
          <p:cNvSpPr/>
          <p:nvPr/>
        </p:nvSpPr>
        <p:spPr>
          <a:xfrm>
            <a:off x="236456" y="2873993"/>
            <a:ext cx="1410261" cy="328870"/>
          </a:xfrm>
          <a:custGeom>
            <a:avLst/>
            <a:gdLst/>
            <a:ahLst/>
            <a:cxnLst/>
            <a:rect l="0" t="0" r="0" b="0"/>
            <a:pathLst>
              <a:path w="1209040" h="328870">
                <a:moveTo>
                  <a:pt x="0" y="93963"/>
                </a:moveTo>
                <a:lnTo>
                  <a:pt x="0" y="46981"/>
                </a:lnTo>
                <a:cubicBezTo>
                  <a:pt x="0" y="21034"/>
                  <a:pt x="21034" y="0"/>
                  <a:pt x="46981" y="0"/>
                </a:cubicBezTo>
                <a:lnTo>
                  <a:pt x="93963" y="0"/>
                </a:lnTo>
                <a:moveTo>
                  <a:pt x="1209040" y="93963"/>
                </a:moveTo>
                <a:lnTo>
                  <a:pt x="1209040" y="234907"/>
                </a:lnTo>
                <a:moveTo>
                  <a:pt x="0" y="234907"/>
                </a:moveTo>
                <a:lnTo>
                  <a:pt x="0" y="93963"/>
                </a:lnTo>
                <a:moveTo>
                  <a:pt x="93963" y="0"/>
                </a:moveTo>
                <a:lnTo>
                  <a:pt x="1115077" y="0"/>
                </a:lnTo>
                <a:moveTo>
                  <a:pt x="0" y="234907"/>
                </a:moveTo>
                <a:lnTo>
                  <a:pt x="0" y="281889"/>
                </a:lnTo>
                <a:cubicBezTo>
                  <a:pt x="0" y="307836"/>
                  <a:pt x="21034" y="328870"/>
                  <a:pt x="46981" y="328870"/>
                </a:cubicBezTo>
                <a:lnTo>
                  <a:pt x="93963" y="328870"/>
                </a:lnTo>
                <a:moveTo>
                  <a:pt x="1209040" y="93963"/>
                </a:moveTo>
                <a:lnTo>
                  <a:pt x="1209040" y="46981"/>
                </a:lnTo>
                <a:cubicBezTo>
                  <a:pt x="1209040" y="21034"/>
                  <a:pt x="1188006" y="0"/>
                  <a:pt x="1162059" y="0"/>
                </a:cubicBezTo>
                <a:lnTo>
                  <a:pt x="1115077" y="0"/>
                </a:lnTo>
                <a:moveTo>
                  <a:pt x="1115077" y="328870"/>
                </a:moveTo>
                <a:lnTo>
                  <a:pt x="93963" y="328870"/>
                </a:lnTo>
                <a:moveTo>
                  <a:pt x="1209040" y="234907"/>
                </a:moveTo>
                <a:lnTo>
                  <a:pt x="1209040" y="281889"/>
                </a:lnTo>
                <a:cubicBezTo>
                  <a:pt x="1209040" y="307836"/>
                  <a:pt x="1188006" y="328870"/>
                  <a:pt x="1162059" y="328870"/>
                </a:cubicBezTo>
                <a:lnTo>
                  <a:pt x="1115077" y="328870"/>
                </a:lnTo>
              </a:path>
            </a:pathLst>
          </a:custGeom>
          <a:solidFill>
            <a:srgbClr val="FF0000"/>
          </a:solidFill>
          <a:ln w="58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4"/>
          <p:cNvSpPr/>
          <p:nvPr/>
        </p:nvSpPr>
        <p:spPr>
          <a:xfrm>
            <a:off x="237425" y="3284605"/>
            <a:ext cx="1410261" cy="739960"/>
          </a:xfrm>
          <a:custGeom>
            <a:avLst/>
            <a:gdLst/>
            <a:ahLst/>
            <a:cxnLst/>
            <a:rect l="0" t="0" r="0" b="0"/>
            <a:pathLst>
              <a:path w="1209040" h="751704">
                <a:moveTo>
                  <a:pt x="0" y="93963"/>
                </a:moveTo>
                <a:lnTo>
                  <a:pt x="0" y="46981"/>
                </a:lnTo>
                <a:cubicBezTo>
                  <a:pt x="0" y="21034"/>
                  <a:pt x="21034" y="0"/>
                  <a:pt x="46981" y="0"/>
                </a:cubicBezTo>
                <a:lnTo>
                  <a:pt x="93963" y="0"/>
                </a:lnTo>
                <a:moveTo>
                  <a:pt x="1209040" y="93963"/>
                </a:moveTo>
                <a:lnTo>
                  <a:pt x="1209040" y="657741"/>
                </a:lnTo>
                <a:moveTo>
                  <a:pt x="0" y="657741"/>
                </a:moveTo>
                <a:lnTo>
                  <a:pt x="0" y="93963"/>
                </a:lnTo>
                <a:moveTo>
                  <a:pt x="93963" y="0"/>
                </a:moveTo>
                <a:lnTo>
                  <a:pt x="1115077" y="0"/>
                </a:lnTo>
                <a:moveTo>
                  <a:pt x="0" y="657741"/>
                </a:moveTo>
                <a:lnTo>
                  <a:pt x="0" y="704723"/>
                </a:lnTo>
                <a:cubicBezTo>
                  <a:pt x="0" y="730670"/>
                  <a:pt x="21034" y="751704"/>
                  <a:pt x="46981" y="751704"/>
                </a:cubicBezTo>
                <a:lnTo>
                  <a:pt x="93963" y="751704"/>
                </a:lnTo>
                <a:moveTo>
                  <a:pt x="1209040" y="93963"/>
                </a:moveTo>
                <a:lnTo>
                  <a:pt x="1209040" y="46981"/>
                </a:lnTo>
                <a:cubicBezTo>
                  <a:pt x="1209040" y="21034"/>
                  <a:pt x="1188006" y="0"/>
                  <a:pt x="1162059" y="0"/>
                </a:cubicBezTo>
                <a:lnTo>
                  <a:pt x="1115077" y="0"/>
                </a:lnTo>
                <a:moveTo>
                  <a:pt x="1115077" y="751704"/>
                </a:moveTo>
                <a:lnTo>
                  <a:pt x="93963" y="751704"/>
                </a:lnTo>
                <a:moveTo>
                  <a:pt x="1209040" y="657741"/>
                </a:moveTo>
                <a:lnTo>
                  <a:pt x="1209040" y="704723"/>
                </a:lnTo>
                <a:cubicBezTo>
                  <a:pt x="1209040" y="730670"/>
                  <a:pt x="1188006" y="751704"/>
                  <a:pt x="1162059" y="751704"/>
                </a:cubicBezTo>
                <a:lnTo>
                  <a:pt x="1115077" y="751704"/>
                </a:lnTo>
              </a:path>
            </a:pathLst>
          </a:custGeom>
          <a:noFill/>
          <a:ln w="58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5"/>
          <p:cNvSpPr/>
          <p:nvPr/>
        </p:nvSpPr>
        <p:spPr>
          <a:xfrm>
            <a:off x="1861100" y="2883658"/>
            <a:ext cx="1810780" cy="328870"/>
          </a:xfrm>
          <a:custGeom>
            <a:avLst/>
            <a:gdLst/>
            <a:ahLst/>
            <a:cxnLst/>
            <a:rect l="0" t="0" r="0" b="0"/>
            <a:pathLst>
              <a:path w="1328574" h="328870">
                <a:moveTo>
                  <a:pt x="0" y="93963"/>
                </a:moveTo>
                <a:lnTo>
                  <a:pt x="0" y="46981"/>
                </a:lnTo>
                <a:cubicBezTo>
                  <a:pt x="0" y="21034"/>
                  <a:pt x="21034" y="0"/>
                  <a:pt x="46981" y="0"/>
                </a:cubicBezTo>
                <a:lnTo>
                  <a:pt x="93963" y="0"/>
                </a:lnTo>
                <a:moveTo>
                  <a:pt x="1328574" y="93963"/>
                </a:moveTo>
                <a:lnTo>
                  <a:pt x="1328574" y="234907"/>
                </a:lnTo>
                <a:moveTo>
                  <a:pt x="0" y="234907"/>
                </a:moveTo>
                <a:lnTo>
                  <a:pt x="0" y="93963"/>
                </a:lnTo>
                <a:moveTo>
                  <a:pt x="93963" y="0"/>
                </a:moveTo>
                <a:lnTo>
                  <a:pt x="1234611" y="0"/>
                </a:lnTo>
                <a:moveTo>
                  <a:pt x="0" y="234907"/>
                </a:moveTo>
                <a:lnTo>
                  <a:pt x="0" y="281889"/>
                </a:lnTo>
                <a:cubicBezTo>
                  <a:pt x="0" y="307836"/>
                  <a:pt x="21034" y="328870"/>
                  <a:pt x="46981" y="328870"/>
                </a:cubicBezTo>
                <a:lnTo>
                  <a:pt x="93963" y="328870"/>
                </a:lnTo>
                <a:moveTo>
                  <a:pt x="1328574" y="93963"/>
                </a:moveTo>
                <a:lnTo>
                  <a:pt x="1328574" y="46981"/>
                </a:lnTo>
                <a:cubicBezTo>
                  <a:pt x="1328574" y="21034"/>
                  <a:pt x="1307539" y="0"/>
                  <a:pt x="1281592" y="0"/>
                </a:cubicBezTo>
                <a:lnTo>
                  <a:pt x="1234611" y="0"/>
                </a:lnTo>
                <a:moveTo>
                  <a:pt x="1234611" y="328870"/>
                </a:moveTo>
                <a:lnTo>
                  <a:pt x="93963" y="328870"/>
                </a:lnTo>
                <a:moveTo>
                  <a:pt x="1328574" y="234907"/>
                </a:moveTo>
                <a:lnTo>
                  <a:pt x="1328574" y="281889"/>
                </a:lnTo>
                <a:cubicBezTo>
                  <a:pt x="1328574" y="307836"/>
                  <a:pt x="1307539" y="328870"/>
                  <a:pt x="1281592" y="328870"/>
                </a:cubicBezTo>
                <a:lnTo>
                  <a:pt x="1234611" y="328870"/>
                </a:lnTo>
              </a:path>
            </a:pathLst>
          </a:custGeom>
          <a:solidFill>
            <a:srgbClr val="0070C0"/>
          </a:solidFill>
          <a:ln w="58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6"/>
          <p:cNvSpPr/>
          <p:nvPr/>
        </p:nvSpPr>
        <p:spPr>
          <a:xfrm>
            <a:off x="1861100" y="3295125"/>
            <a:ext cx="1810780" cy="751704"/>
          </a:xfrm>
          <a:custGeom>
            <a:avLst/>
            <a:gdLst/>
            <a:ahLst/>
            <a:cxnLst/>
            <a:rect l="0" t="0" r="0" b="0"/>
            <a:pathLst>
              <a:path w="1328574" h="751704">
                <a:moveTo>
                  <a:pt x="0" y="93963"/>
                </a:moveTo>
                <a:lnTo>
                  <a:pt x="0" y="46981"/>
                </a:lnTo>
                <a:cubicBezTo>
                  <a:pt x="0" y="21034"/>
                  <a:pt x="21034" y="0"/>
                  <a:pt x="46981" y="0"/>
                </a:cubicBezTo>
                <a:lnTo>
                  <a:pt x="93963" y="0"/>
                </a:lnTo>
                <a:moveTo>
                  <a:pt x="1328574" y="93963"/>
                </a:moveTo>
                <a:lnTo>
                  <a:pt x="1328574" y="657741"/>
                </a:lnTo>
                <a:moveTo>
                  <a:pt x="0" y="657741"/>
                </a:moveTo>
                <a:lnTo>
                  <a:pt x="0" y="93963"/>
                </a:lnTo>
                <a:moveTo>
                  <a:pt x="93963" y="0"/>
                </a:moveTo>
                <a:lnTo>
                  <a:pt x="1234611" y="0"/>
                </a:lnTo>
                <a:moveTo>
                  <a:pt x="0" y="657741"/>
                </a:moveTo>
                <a:lnTo>
                  <a:pt x="0" y="704723"/>
                </a:lnTo>
                <a:cubicBezTo>
                  <a:pt x="0" y="730670"/>
                  <a:pt x="21034" y="751704"/>
                  <a:pt x="46981" y="751704"/>
                </a:cubicBezTo>
                <a:lnTo>
                  <a:pt x="93963" y="751704"/>
                </a:lnTo>
                <a:moveTo>
                  <a:pt x="1328574" y="93963"/>
                </a:moveTo>
                <a:lnTo>
                  <a:pt x="1328574" y="46981"/>
                </a:lnTo>
                <a:cubicBezTo>
                  <a:pt x="1328574" y="21034"/>
                  <a:pt x="1307539" y="0"/>
                  <a:pt x="1281592" y="0"/>
                </a:cubicBezTo>
                <a:lnTo>
                  <a:pt x="1234611" y="0"/>
                </a:lnTo>
                <a:moveTo>
                  <a:pt x="1234611" y="751704"/>
                </a:moveTo>
                <a:lnTo>
                  <a:pt x="93963" y="751704"/>
                </a:lnTo>
                <a:moveTo>
                  <a:pt x="1328574" y="657741"/>
                </a:moveTo>
                <a:lnTo>
                  <a:pt x="1328574" y="704723"/>
                </a:lnTo>
                <a:cubicBezTo>
                  <a:pt x="1328574" y="730670"/>
                  <a:pt x="1307539" y="751704"/>
                  <a:pt x="1281592" y="751704"/>
                </a:cubicBezTo>
                <a:lnTo>
                  <a:pt x="1234611" y="751704"/>
                </a:lnTo>
              </a:path>
            </a:pathLst>
          </a:custGeom>
          <a:noFill/>
          <a:ln w="58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7"/>
          <p:cNvSpPr/>
          <p:nvPr/>
        </p:nvSpPr>
        <p:spPr>
          <a:xfrm>
            <a:off x="3877281" y="2875200"/>
            <a:ext cx="1647016" cy="328870"/>
          </a:xfrm>
          <a:custGeom>
            <a:avLst/>
            <a:gdLst/>
            <a:ahLst/>
            <a:cxnLst/>
            <a:rect l="0" t="0" r="0" b="0"/>
            <a:pathLst>
              <a:path w="1102842" h="328870">
                <a:moveTo>
                  <a:pt x="0" y="93963"/>
                </a:moveTo>
                <a:lnTo>
                  <a:pt x="0" y="46981"/>
                </a:lnTo>
                <a:cubicBezTo>
                  <a:pt x="0" y="21034"/>
                  <a:pt x="21034" y="0"/>
                  <a:pt x="46981" y="0"/>
                </a:cubicBezTo>
                <a:lnTo>
                  <a:pt x="93963" y="0"/>
                </a:lnTo>
                <a:moveTo>
                  <a:pt x="1102842" y="93963"/>
                </a:moveTo>
                <a:lnTo>
                  <a:pt x="1102842" y="234907"/>
                </a:lnTo>
                <a:moveTo>
                  <a:pt x="0" y="234907"/>
                </a:moveTo>
                <a:lnTo>
                  <a:pt x="0" y="93963"/>
                </a:lnTo>
                <a:moveTo>
                  <a:pt x="93963" y="0"/>
                </a:moveTo>
                <a:lnTo>
                  <a:pt x="1008879" y="0"/>
                </a:lnTo>
                <a:moveTo>
                  <a:pt x="0" y="234907"/>
                </a:moveTo>
                <a:lnTo>
                  <a:pt x="0" y="281889"/>
                </a:lnTo>
                <a:cubicBezTo>
                  <a:pt x="0" y="307836"/>
                  <a:pt x="21034" y="328870"/>
                  <a:pt x="46981" y="328870"/>
                </a:cubicBezTo>
                <a:lnTo>
                  <a:pt x="93963" y="328870"/>
                </a:lnTo>
                <a:moveTo>
                  <a:pt x="1102842" y="93963"/>
                </a:moveTo>
                <a:lnTo>
                  <a:pt x="1102842" y="46981"/>
                </a:lnTo>
                <a:cubicBezTo>
                  <a:pt x="1102842" y="21034"/>
                  <a:pt x="1081808" y="0"/>
                  <a:pt x="1055861" y="0"/>
                </a:cubicBezTo>
                <a:lnTo>
                  <a:pt x="1008879" y="0"/>
                </a:lnTo>
                <a:moveTo>
                  <a:pt x="1008879" y="328870"/>
                </a:moveTo>
                <a:lnTo>
                  <a:pt x="93963" y="328870"/>
                </a:lnTo>
                <a:moveTo>
                  <a:pt x="1102842" y="234907"/>
                </a:moveTo>
                <a:lnTo>
                  <a:pt x="1102842" y="281889"/>
                </a:lnTo>
                <a:cubicBezTo>
                  <a:pt x="1102842" y="307836"/>
                  <a:pt x="1081808" y="328870"/>
                  <a:pt x="1055861" y="328870"/>
                </a:cubicBezTo>
                <a:lnTo>
                  <a:pt x="1008879" y="328870"/>
                </a:lnTo>
              </a:path>
            </a:pathLst>
          </a:custGeom>
          <a:solidFill>
            <a:srgbClr val="7030A0"/>
          </a:solidFill>
          <a:ln w="58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8"/>
          <p:cNvSpPr/>
          <p:nvPr/>
        </p:nvSpPr>
        <p:spPr>
          <a:xfrm>
            <a:off x="3870033" y="3292217"/>
            <a:ext cx="1654264" cy="751704"/>
          </a:xfrm>
          <a:custGeom>
            <a:avLst/>
            <a:gdLst/>
            <a:ahLst/>
            <a:cxnLst/>
            <a:rect l="0" t="0" r="0" b="0"/>
            <a:pathLst>
              <a:path w="1102842" h="751704">
                <a:moveTo>
                  <a:pt x="0" y="93963"/>
                </a:moveTo>
                <a:lnTo>
                  <a:pt x="0" y="46981"/>
                </a:lnTo>
                <a:cubicBezTo>
                  <a:pt x="0" y="21034"/>
                  <a:pt x="21034" y="0"/>
                  <a:pt x="46981" y="0"/>
                </a:cubicBezTo>
                <a:lnTo>
                  <a:pt x="93963" y="0"/>
                </a:lnTo>
                <a:moveTo>
                  <a:pt x="1102842" y="93963"/>
                </a:moveTo>
                <a:lnTo>
                  <a:pt x="1102842" y="657741"/>
                </a:lnTo>
                <a:moveTo>
                  <a:pt x="0" y="657741"/>
                </a:moveTo>
                <a:lnTo>
                  <a:pt x="0" y="93963"/>
                </a:lnTo>
                <a:moveTo>
                  <a:pt x="93963" y="0"/>
                </a:moveTo>
                <a:lnTo>
                  <a:pt x="1008879" y="0"/>
                </a:lnTo>
                <a:moveTo>
                  <a:pt x="0" y="657741"/>
                </a:moveTo>
                <a:lnTo>
                  <a:pt x="0" y="704723"/>
                </a:lnTo>
                <a:cubicBezTo>
                  <a:pt x="0" y="730670"/>
                  <a:pt x="21034" y="751704"/>
                  <a:pt x="46981" y="751704"/>
                </a:cubicBezTo>
                <a:lnTo>
                  <a:pt x="93963" y="751704"/>
                </a:lnTo>
                <a:moveTo>
                  <a:pt x="1102842" y="93963"/>
                </a:moveTo>
                <a:lnTo>
                  <a:pt x="1102842" y="46981"/>
                </a:lnTo>
                <a:cubicBezTo>
                  <a:pt x="1102842" y="21034"/>
                  <a:pt x="1081808" y="0"/>
                  <a:pt x="1055861" y="0"/>
                </a:cubicBezTo>
                <a:lnTo>
                  <a:pt x="1008879" y="0"/>
                </a:lnTo>
                <a:moveTo>
                  <a:pt x="1008879" y="751704"/>
                </a:moveTo>
                <a:lnTo>
                  <a:pt x="93963" y="751704"/>
                </a:lnTo>
                <a:moveTo>
                  <a:pt x="1102842" y="657741"/>
                </a:moveTo>
                <a:lnTo>
                  <a:pt x="1102842" y="704723"/>
                </a:lnTo>
                <a:cubicBezTo>
                  <a:pt x="1102842" y="730670"/>
                  <a:pt x="1081808" y="751704"/>
                  <a:pt x="1055861" y="751704"/>
                </a:cubicBezTo>
                <a:lnTo>
                  <a:pt x="1008879" y="751704"/>
                </a:lnTo>
              </a:path>
            </a:pathLst>
          </a:custGeom>
          <a:noFill/>
          <a:ln w="58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9"/>
          <p:cNvSpPr/>
          <p:nvPr/>
        </p:nvSpPr>
        <p:spPr>
          <a:xfrm>
            <a:off x="5730837" y="2877579"/>
            <a:ext cx="1569067" cy="328870"/>
          </a:xfrm>
          <a:custGeom>
            <a:avLst/>
            <a:gdLst/>
            <a:ahLst/>
            <a:cxnLst/>
            <a:rect l="0" t="0" r="0" b="0"/>
            <a:pathLst>
              <a:path w="1281348" h="328870">
                <a:moveTo>
                  <a:pt x="0" y="93963"/>
                </a:moveTo>
                <a:lnTo>
                  <a:pt x="0" y="46981"/>
                </a:lnTo>
                <a:cubicBezTo>
                  <a:pt x="0" y="21034"/>
                  <a:pt x="21034" y="0"/>
                  <a:pt x="46981" y="0"/>
                </a:cubicBezTo>
                <a:lnTo>
                  <a:pt x="93963" y="0"/>
                </a:lnTo>
                <a:moveTo>
                  <a:pt x="1281348" y="93963"/>
                </a:moveTo>
                <a:lnTo>
                  <a:pt x="1281348" y="234907"/>
                </a:lnTo>
                <a:moveTo>
                  <a:pt x="0" y="234907"/>
                </a:moveTo>
                <a:lnTo>
                  <a:pt x="0" y="93963"/>
                </a:lnTo>
                <a:moveTo>
                  <a:pt x="93963" y="0"/>
                </a:moveTo>
                <a:lnTo>
                  <a:pt x="1187385" y="0"/>
                </a:lnTo>
                <a:moveTo>
                  <a:pt x="0" y="234907"/>
                </a:moveTo>
                <a:lnTo>
                  <a:pt x="0" y="281889"/>
                </a:lnTo>
                <a:cubicBezTo>
                  <a:pt x="0" y="307836"/>
                  <a:pt x="21034" y="328870"/>
                  <a:pt x="46981" y="328870"/>
                </a:cubicBezTo>
                <a:lnTo>
                  <a:pt x="93963" y="328870"/>
                </a:lnTo>
                <a:moveTo>
                  <a:pt x="1281348" y="93963"/>
                </a:moveTo>
                <a:lnTo>
                  <a:pt x="1281348" y="46981"/>
                </a:lnTo>
                <a:cubicBezTo>
                  <a:pt x="1281348" y="21034"/>
                  <a:pt x="1260313" y="0"/>
                  <a:pt x="1234366" y="0"/>
                </a:cubicBezTo>
                <a:lnTo>
                  <a:pt x="1187385" y="0"/>
                </a:lnTo>
                <a:moveTo>
                  <a:pt x="1187385" y="328870"/>
                </a:moveTo>
                <a:lnTo>
                  <a:pt x="93963" y="328870"/>
                </a:lnTo>
                <a:moveTo>
                  <a:pt x="1281348" y="234907"/>
                </a:moveTo>
                <a:lnTo>
                  <a:pt x="1281348" y="281889"/>
                </a:lnTo>
                <a:cubicBezTo>
                  <a:pt x="1281348" y="307836"/>
                  <a:pt x="1260313" y="328870"/>
                  <a:pt x="1234366" y="328870"/>
                </a:cubicBezTo>
                <a:lnTo>
                  <a:pt x="1187385" y="328870"/>
                </a:lnTo>
              </a:path>
            </a:pathLst>
          </a:custGeom>
          <a:solidFill>
            <a:srgbClr val="00B050"/>
          </a:solidFill>
          <a:ln w="58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10"/>
          <p:cNvSpPr/>
          <p:nvPr/>
        </p:nvSpPr>
        <p:spPr>
          <a:xfrm>
            <a:off x="5732366" y="3295125"/>
            <a:ext cx="1578511" cy="751704"/>
          </a:xfrm>
          <a:custGeom>
            <a:avLst/>
            <a:gdLst/>
            <a:ahLst/>
            <a:cxnLst/>
            <a:rect l="0" t="0" r="0" b="0"/>
            <a:pathLst>
              <a:path w="1281348" h="751704">
                <a:moveTo>
                  <a:pt x="0" y="93963"/>
                </a:moveTo>
                <a:lnTo>
                  <a:pt x="0" y="46981"/>
                </a:lnTo>
                <a:cubicBezTo>
                  <a:pt x="0" y="21034"/>
                  <a:pt x="21034" y="0"/>
                  <a:pt x="46981" y="0"/>
                </a:cubicBezTo>
                <a:lnTo>
                  <a:pt x="93963" y="0"/>
                </a:lnTo>
                <a:moveTo>
                  <a:pt x="1281348" y="93963"/>
                </a:moveTo>
                <a:lnTo>
                  <a:pt x="1281348" y="657741"/>
                </a:lnTo>
                <a:moveTo>
                  <a:pt x="0" y="657741"/>
                </a:moveTo>
                <a:lnTo>
                  <a:pt x="0" y="93963"/>
                </a:lnTo>
                <a:moveTo>
                  <a:pt x="93963" y="0"/>
                </a:moveTo>
                <a:lnTo>
                  <a:pt x="1187385" y="0"/>
                </a:lnTo>
                <a:moveTo>
                  <a:pt x="0" y="657741"/>
                </a:moveTo>
                <a:lnTo>
                  <a:pt x="0" y="704723"/>
                </a:lnTo>
                <a:cubicBezTo>
                  <a:pt x="0" y="730670"/>
                  <a:pt x="21034" y="751704"/>
                  <a:pt x="46981" y="751704"/>
                </a:cubicBezTo>
                <a:lnTo>
                  <a:pt x="93963" y="751704"/>
                </a:lnTo>
                <a:moveTo>
                  <a:pt x="1281348" y="93963"/>
                </a:moveTo>
                <a:lnTo>
                  <a:pt x="1281348" y="46981"/>
                </a:lnTo>
                <a:cubicBezTo>
                  <a:pt x="1281348" y="21034"/>
                  <a:pt x="1260313" y="0"/>
                  <a:pt x="1234366" y="0"/>
                </a:cubicBezTo>
                <a:lnTo>
                  <a:pt x="1187385" y="0"/>
                </a:lnTo>
                <a:moveTo>
                  <a:pt x="1187385" y="751704"/>
                </a:moveTo>
                <a:lnTo>
                  <a:pt x="93963" y="751704"/>
                </a:lnTo>
                <a:moveTo>
                  <a:pt x="1281348" y="657741"/>
                </a:moveTo>
                <a:lnTo>
                  <a:pt x="1281348" y="704723"/>
                </a:lnTo>
                <a:cubicBezTo>
                  <a:pt x="1281348" y="730670"/>
                  <a:pt x="1260313" y="751704"/>
                  <a:pt x="1234366" y="751704"/>
                </a:cubicBezTo>
                <a:lnTo>
                  <a:pt x="1187385" y="751704"/>
                </a:lnTo>
              </a:path>
            </a:pathLst>
          </a:custGeom>
          <a:noFill/>
          <a:ln w="58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11"/>
          <p:cNvSpPr/>
          <p:nvPr/>
        </p:nvSpPr>
        <p:spPr>
          <a:xfrm>
            <a:off x="7497626" y="2872291"/>
            <a:ext cx="1474435" cy="328870"/>
          </a:xfrm>
          <a:custGeom>
            <a:avLst/>
            <a:gdLst/>
            <a:ahLst/>
            <a:cxnLst/>
            <a:rect l="0" t="0" r="0" b="0"/>
            <a:pathLst>
              <a:path w="1195460" h="328870">
                <a:moveTo>
                  <a:pt x="0" y="93963"/>
                </a:moveTo>
                <a:lnTo>
                  <a:pt x="0" y="46981"/>
                </a:lnTo>
                <a:cubicBezTo>
                  <a:pt x="0" y="21034"/>
                  <a:pt x="21034" y="0"/>
                  <a:pt x="46981" y="0"/>
                </a:cubicBezTo>
                <a:lnTo>
                  <a:pt x="93963" y="0"/>
                </a:lnTo>
                <a:moveTo>
                  <a:pt x="1195460" y="93963"/>
                </a:moveTo>
                <a:lnTo>
                  <a:pt x="1195460" y="234907"/>
                </a:lnTo>
                <a:moveTo>
                  <a:pt x="0" y="234907"/>
                </a:moveTo>
                <a:lnTo>
                  <a:pt x="0" y="93963"/>
                </a:lnTo>
                <a:moveTo>
                  <a:pt x="93963" y="0"/>
                </a:moveTo>
                <a:lnTo>
                  <a:pt x="1101496" y="0"/>
                </a:lnTo>
                <a:moveTo>
                  <a:pt x="0" y="234907"/>
                </a:moveTo>
                <a:lnTo>
                  <a:pt x="0" y="281889"/>
                </a:lnTo>
                <a:cubicBezTo>
                  <a:pt x="0" y="307836"/>
                  <a:pt x="21034" y="328870"/>
                  <a:pt x="46981" y="328870"/>
                </a:cubicBezTo>
                <a:lnTo>
                  <a:pt x="93963" y="328870"/>
                </a:lnTo>
                <a:moveTo>
                  <a:pt x="1195460" y="93963"/>
                </a:moveTo>
                <a:lnTo>
                  <a:pt x="1195460" y="46981"/>
                </a:lnTo>
                <a:cubicBezTo>
                  <a:pt x="1195460" y="21034"/>
                  <a:pt x="1174425" y="0"/>
                  <a:pt x="1148478" y="0"/>
                </a:cubicBezTo>
                <a:lnTo>
                  <a:pt x="1101496" y="0"/>
                </a:lnTo>
                <a:moveTo>
                  <a:pt x="1101496" y="328870"/>
                </a:moveTo>
                <a:lnTo>
                  <a:pt x="93963" y="328870"/>
                </a:lnTo>
                <a:moveTo>
                  <a:pt x="1195460" y="234907"/>
                </a:moveTo>
                <a:lnTo>
                  <a:pt x="1195460" y="281889"/>
                </a:lnTo>
                <a:cubicBezTo>
                  <a:pt x="1195460" y="307836"/>
                  <a:pt x="1174425" y="328870"/>
                  <a:pt x="1148478" y="328870"/>
                </a:cubicBezTo>
                <a:lnTo>
                  <a:pt x="1101496" y="328870"/>
                </a:lnTo>
              </a:path>
            </a:pathLst>
          </a:custGeom>
          <a:solidFill>
            <a:srgbClr val="C00000"/>
          </a:solidFill>
          <a:ln w="58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12"/>
          <p:cNvSpPr/>
          <p:nvPr/>
        </p:nvSpPr>
        <p:spPr>
          <a:xfrm>
            <a:off x="7505832" y="3288091"/>
            <a:ext cx="1474435" cy="751704"/>
          </a:xfrm>
          <a:custGeom>
            <a:avLst/>
            <a:gdLst/>
            <a:ahLst/>
            <a:cxnLst/>
            <a:rect l="0" t="0" r="0" b="0"/>
            <a:pathLst>
              <a:path w="1195460" h="751704">
                <a:moveTo>
                  <a:pt x="0" y="93963"/>
                </a:moveTo>
                <a:lnTo>
                  <a:pt x="0" y="46981"/>
                </a:lnTo>
                <a:cubicBezTo>
                  <a:pt x="0" y="21034"/>
                  <a:pt x="21034" y="0"/>
                  <a:pt x="46981" y="0"/>
                </a:cubicBezTo>
                <a:lnTo>
                  <a:pt x="93963" y="0"/>
                </a:lnTo>
                <a:moveTo>
                  <a:pt x="1195460" y="93963"/>
                </a:moveTo>
                <a:lnTo>
                  <a:pt x="1195460" y="657741"/>
                </a:lnTo>
                <a:moveTo>
                  <a:pt x="0" y="657741"/>
                </a:moveTo>
                <a:lnTo>
                  <a:pt x="0" y="93963"/>
                </a:lnTo>
                <a:moveTo>
                  <a:pt x="93963" y="0"/>
                </a:moveTo>
                <a:lnTo>
                  <a:pt x="1101496" y="0"/>
                </a:lnTo>
                <a:moveTo>
                  <a:pt x="0" y="657741"/>
                </a:moveTo>
                <a:lnTo>
                  <a:pt x="0" y="704723"/>
                </a:lnTo>
                <a:cubicBezTo>
                  <a:pt x="0" y="730670"/>
                  <a:pt x="21034" y="751704"/>
                  <a:pt x="46981" y="751704"/>
                </a:cubicBezTo>
                <a:lnTo>
                  <a:pt x="93963" y="751704"/>
                </a:lnTo>
                <a:moveTo>
                  <a:pt x="1195460" y="93963"/>
                </a:moveTo>
                <a:lnTo>
                  <a:pt x="1195460" y="46981"/>
                </a:lnTo>
                <a:cubicBezTo>
                  <a:pt x="1195460" y="21034"/>
                  <a:pt x="1174425" y="0"/>
                  <a:pt x="1148478" y="0"/>
                </a:cubicBezTo>
                <a:lnTo>
                  <a:pt x="1101496" y="0"/>
                </a:lnTo>
                <a:moveTo>
                  <a:pt x="1101496" y="751704"/>
                </a:moveTo>
                <a:lnTo>
                  <a:pt x="93963" y="751704"/>
                </a:lnTo>
                <a:moveTo>
                  <a:pt x="1195460" y="657741"/>
                </a:moveTo>
                <a:lnTo>
                  <a:pt x="1195460" y="704723"/>
                </a:lnTo>
                <a:cubicBezTo>
                  <a:pt x="1195460" y="730670"/>
                  <a:pt x="1174425" y="751704"/>
                  <a:pt x="1148478" y="751704"/>
                </a:cubicBezTo>
                <a:lnTo>
                  <a:pt x="1101496" y="751704"/>
                </a:lnTo>
              </a:path>
            </a:pathLst>
          </a:custGeom>
          <a:noFill/>
          <a:ln w="58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30292" y="2965807"/>
            <a:ext cx="411699" cy="140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000000"/>
                </a:solidFill>
                <a:latin typeface="Roboto"/>
              </a:rPr>
              <a:t>Actuate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1569" y="2977591"/>
            <a:ext cx="334007" cy="140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000000"/>
                </a:solidFill>
                <a:latin typeface="Roboto"/>
              </a:rPr>
              <a:t>Power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60488" y="2977999"/>
            <a:ext cx="736654" cy="140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000000"/>
                </a:solidFill>
                <a:latin typeface="Roboto"/>
              </a:rPr>
              <a:t>Communicate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52198" y="2978446"/>
            <a:ext cx="428581" cy="140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000000"/>
                </a:solidFill>
                <a:latin typeface="Roboto"/>
              </a:rPr>
              <a:t>Process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51" y="2977999"/>
            <a:ext cx="325448" cy="140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000000"/>
                </a:solidFill>
                <a:latin typeface="Roboto"/>
              </a:rPr>
              <a:t>Sense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8533" y="3409367"/>
            <a:ext cx="1288044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0" dirty="0">
                <a:solidFill>
                  <a:srgbClr val="000000"/>
                </a:solidFill>
                <a:latin typeface="Roboto"/>
              </a:rPr>
              <a:t>Load Cell Sensor( 1 KG)</a:t>
            </a:r>
            <a:endParaRPr sz="900" b="0" dirty="0">
              <a:solidFill>
                <a:srgbClr val="000000"/>
              </a:solidFill>
              <a:latin typeface="Roboto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563442" y="3377294"/>
            <a:ext cx="859210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endParaRPr lang="en-US" sz="900" dirty="0">
              <a:solidFill>
                <a:srgbClr val="000000"/>
              </a:solidFill>
              <a:latin typeface="Roboto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0" dirty="0">
                <a:solidFill>
                  <a:srgbClr val="000000"/>
                </a:solidFill>
                <a:latin typeface="Roboto"/>
              </a:rPr>
              <a:t>OLED Display</a:t>
            </a:r>
            <a:endParaRPr sz="900" b="0" dirty="0">
              <a:solidFill>
                <a:srgbClr val="000000"/>
              </a:solidFill>
              <a:latin typeface="Roboto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936599" y="3468140"/>
            <a:ext cx="923330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0" dirty="0">
                <a:solidFill>
                  <a:srgbClr val="000000"/>
                </a:solidFill>
                <a:latin typeface="Roboto"/>
              </a:rPr>
              <a:t>BLE 5.0 GATT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Roboto"/>
              </a:rPr>
              <a:t>App</a:t>
            </a:r>
            <a:endParaRPr sz="900" b="0" dirty="0">
              <a:solidFill>
                <a:srgbClr val="000000"/>
              </a:solidFill>
              <a:latin typeface="Roboto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908081" y="3458135"/>
            <a:ext cx="1429879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Roboto"/>
              </a:rPr>
              <a:t>HX711 24 bit ADC(5 Hz)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0" dirty="0">
                <a:solidFill>
                  <a:srgbClr val="000000"/>
                </a:solidFill>
                <a:latin typeface="Roboto"/>
              </a:rPr>
              <a:t>ESP 32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Roboto"/>
              </a:rPr>
              <a:t>RTC (DS3231/DS1307)</a:t>
            </a:r>
            <a:endParaRPr sz="900" b="0" dirty="0">
              <a:solidFill>
                <a:srgbClr val="000000"/>
              </a:solidFill>
              <a:latin typeface="Roboto"/>
            </a:endParaRPr>
          </a:p>
        </p:txBody>
      </p:sp>
      <p:sp>
        <p:nvSpPr>
          <p:cNvPr id="47" name="Text 7"/>
          <p:cNvSpPr/>
          <p:nvPr/>
        </p:nvSpPr>
        <p:spPr>
          <a:xfrm>
            <a:off x="1648224" y="3499299"/>
            <a:ext cx="225280" cy="3433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45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48" name="Text 7"/>
          <p:cNvSpPr/>
          <p:nvPr/>
        </p:nvSpPr>
        <p:spPr>
          <a:xfrm>
            <a:off x="3665365" y="3482907"/>
            <a:ext cx="204668" cy="3433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45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49" name="Text 7"/>
          <p:cNvSpPr/>
          <p:nvPr/>
        </p:nvSpPr>
        <p:spPr>
          <a:xfrm>
            <a:off x="5522022" y="3473611"/>
            <a:ext cx="225280" cy="3433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45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50" name="Text 7"/>
          <p:cNvSpPr/>
          <p:nvPr/>
        </p:nvSpPr>
        <p:spPr>
          <a:xfrm>
            <a:off x="7318028" y="3492265"/>
            <a:ext cx="180770" cy="3433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45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51" name="TextBox 50"/>
          <p:cNvSpPr txBox="1"/>
          <p:nvPr/>
        </p:nvSpPr>
        <p:spPr>
          <a:xfrm>
            <a:off x="5732366" y="3331127"/>
            <a:ext cx="1585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1000mAh Lipo+TP4056 USB-C</a:t>
            </a:r>
            <a:endParaRPr lang="en-IN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Sense — Sensors &amp; Transducers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Identify all sensing elements and their interfaces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8288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017520"/>
            <a:ext cx="393192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175915" y="1126347"/>
            <a:ext cx="2924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1)</a:t>
            </a:r>
            <a:r>
              <a:rPr lang="en-US" dirty="0">
                <a:solidFill>
                  <a:srgbClr val="000000"/>
                </a:solidFill>
                <a:latin typeface="Roboto"/>
              </a:rPr>
              <a:t> Load Cell Sensor( 1Kg)</a:t>
            </a:r>
          </a:p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526" y="1654624"/>
            <a:ext cx="2921474" cy="2454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75915" y="1643950"/>
            <a:ext cx="4650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Why?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184847" y="2013282"/>
            <a:ext cx="63520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Converts weight into electrical signal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Works with any container (no fixed container needed)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Provides continuous weight measurement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Detects very small changes  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248281" y="3282151"/>
            <a:ext cx="46507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Type : Load Cell / Weight Sensor</a:t>
            </a:r>
          </a:p>
          <a:p>
            <a:r>
              <a:rPr lang="en-US" sz="1400" dirty="0"/>
              <a:t>Capacity : 1 kg</a:t>
            </a:r>
          </a:p>
          <a:p>
            <a:r>
              <a:rPr lang="en-US" sz="1400" dirty="0"/>
              <a:t>Function: Measures the weight of the cup and water </a:t>
            </a:r>
          </a:p>
          <a:p>
            <a:r>
              <a:rPr lang="da-DK" sz="1400" dirty="0"/>
              <a:t>Supply Voltage : 5V (via HX711)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Process — MCU / SoC &amp; Memory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Identify the processing core, memory, and peripherals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8288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017520"/>
            <a:ext cx="393192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09160" y="3017520"/>
            <a:ext cx="393192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Rectangle 11"/>
          <p:cNvSpPr/>
          <p:nvPr/>
        </p:nvSpPr>
        <p:spPr>
          <a:xfrm>
            <a:off x="346183" y="1143287"/>
            <a:ext cx="21226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2)HX711(24 Bit ADC)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346183" y="1765855"/>
            <a:ext cx="59526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Amplifies very small signal from load cell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Converts </a:t>
            </a:r>
            <a:r>
              <a:rPr lang="en-IN" sz="1400" dirty="0" err="1"/>
              <a:t>analog</a:t>
            </a:r>
            <a:r>
              <a:rPr lang="en-IN" sz="1400" dirty="0"/>
              <a:t> signal → digital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Enables microcontroller to read weight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458118"/>
            <a:ext cx="216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Why?</a:t>
            </a:r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249293" y="2504519"/>
            <a:ext cx="29529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Type:HX711 Load Cell Amplifier + ADC</a:t>
            </a:r>
          </a:p>
          <a:p>
            <a:r>
              <a:rPr lang="en-US" sz="1400" dirty="0"/>
              <a:t>Interface: I2C communication</a:t>
            </a:r>
            <a:endParaRPr lang="en-IN" sz="1400" dirty="0"/>
          </a:p>
        </p:txBody>
      </p:sp>
      <p:sp>
        <p:nvSpPr>
          <p:cNvPr id="17" name="Rectangle 16"/>
          <p:cNvSpPr/>
          <p:nvPr/>
        </p:nvSpPr>
        <p:spPr>
          <a:xfrm>
            <a:off x="249293" y="3114303"/>
            <a:ext cx="725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3)RTC</a:t>
            </a:r>
            <a:endParaRPr lang="en-IN" dirty="0"/>
          </a:p>
        </p:txBody>
      </p:sp>
      <p:sp>
        <p:nvSpPr>
          <p:cNvPr id="18" name="Rectangle 17"/>
          <p:cNvSpPr/>
          <p:nvPr/>
        </p:nvSpPr>
        <p:spPr>
          <a:xfrm>
            <a:off x="427742" y="3422597"/>
            <a:ext cx="718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Why?</a:t>
            </a:r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249293" y="3114303"/>
            <a:ext cx="4572000" cy="129266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Less clock drift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Easy to Interface (I2C Communication)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Which works easily with ESP32</a:t>
            </a:r>
            <a:endParaRPr lang="en-IN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188736" y="4394854"/>
            <a:ext cx="72006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Type : RTC Module</a:t>
            </a:r>
          </a:p>
          <a:p>
            <a:r>
              <a:rPr lang="en-US" sz="1400" dirty="0"/>
              <a:t>Function : Maintains time and triggers events like reset and reminders</a:t>
            </a:r>
          </a:p>
          <a:p>
            <a:r>
              <a:rPr lang="en-US" sz="1400" dirty="0"/>
              <a:t>Interface : I2C Protocol</a:t>
            </a:r>
            <a:endParaRPr lang="en-IN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3017520"/>
            <a:ext cx="393192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TextBox 5"/>
          <p:cNvSpPr txBox="1"/>
          <p:nvPr/>
        </p:nvSpPr>
        <p:spPr>
          <a:xfrm>
            <a:off x="169557" y="525887"/>
            <a:ext cx="3766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4) ESP 32</a:t>
            </a:r>
            <a:endParaRPr lang="en-IN" sz="2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726" y="731520"/>
            <a:ext cx="3490913" cy="215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69557" y="1484476"/>
            <a:ext cx="514696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dirty="0">
                <a:solidFill>
                  <a:prstClr val="black"/>
                </a:solidFill>
                <a:cs typeface="Arial" panose="020B0604020202020204" pitchFamily="34" charset="0"/>
              </a:rPr>
              <a:t>Processes weight data from HX711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dirty="0">
                <a:solidFill>
                  <a:prstClr val="black"/>
                </a:solidFill>
                <a:cs typeface="Arial" panose="020B0604020202020204" pitchFamily="34" charset="0"/>
              </a:rPr>
              <a:t> Performs sip detection &amp; intake calculation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dirty="0">
                <a:solidFill>
                  <a:prstClr val="black"/>
                </a:solidFill>
                <a:cs typeface="Arial" panose="020B0604020202020204" pitchFamily="34" charset="0"/>
              </a:rPr>
              <a:t> Supports BLE communication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dirty="0">
                <a:solidFill>
                  <a:prstClr val="black"/>
                </a:solidFill>
                <a:cs typeface="Arial" panose="020B0604020202020204" pitchFamily="34" charset="0"/>
              </a:rPr>
              <a:t> Controls display, buzzer, and timer functions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557" y="1115144"/>
            <a:ext cx="164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Why?</a:t>
            </a:r>
            <a:endParaRPr lang="en-IN" dirty="0"/>
          </a:p>
        </p:txBody>
      </p:sp>
      <p:sp>
        <p:nvSpPr>
          <p:cNvPr id="17" name="Rectangle 16"/>
          <p:cNvSpPr/>
          <p:nvPr/>
        </p:nvSpPr>
        <p:spPr>
          <a:xfrm>
            <a:off x="169557" y="2907100"/>
            <a:ext cx="792076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Type :Microcontroller (ESP32 </a:t>
            </a:r>
            <a:r>
              <a:rPr lang="en-IN" sz="1400" dirty="0" err="1"/>
              <a:t>SoC</a:t>
            </a:r>
            <a:r>
              <a:rPr lang="en-IN" sz="1400" dirty="0"/>
              <a:t>)</a:t>
            </a:r>
          </a:p>
          <a:p>
            <a:r>
              <a:rPr lang="en-IN" sz="1400" dirty="0"/>
              <a:t>Core :Dual-core processor</a:t>
            </a:r>
          </a:p>
          <a:p>
            <a:r>
              <a:rPr lang="en-IN" sz="1400" dirty="0"/>
              <a:t>Function :Reads sensor data, processes logic, controls output devices, and manages communication</a:t>
            </a:r>
          </a:p>
          <a:p>
            <a:r>
              <a:rPr lang="en-IN" sz="1400" dirty="0"/>
              <a:t>Interfaces :GPIO, I2C (OLED), SPI, UART, BLE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Communicate — Wireless &amp; Connectivity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Identify wireless protocols, RF components, and antenna design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8288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6" name="Text 5"/>
          <p:cNvSpPr/>
          <p:nvPr/>
        </p:nvSpPr>
        <p:spPr>
          <a:xfrm>
            <a:off x="502920" y="3017520"/>
            <a:ext cx="393192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09160" y="3017520"/>
            <a:ext cx="393192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254337" y="1174793"/>
            <a:ext cx="1768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5)BLE 5.0 GATT </a:t>
            </a:r>
            <a:endParaRPr lang="en-IN" sz="2000" dirty="0"/>
          </a:p>
        </p:txBody>
      </p:sp>
      <p:sp>
        <p:nvSpPr>
          <p:cNvPr id="12" name="Rectangle 11"/>
          <p:cNvSpPr/>
          <p:nvPr/>
        </p:nvSpPr>
        <p:spPr>
          <a:xfrm>
            <a:off x="302782" y="3370004"/>
            <a:ext cx="61979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Type : Wireless Communication (BLE 5.0)</a:t>
            </a:r>
          </a:p>
          <a:p>
            <a:r>
              <a:rPr lang="en-IN" sz="1400" dirty="0"/>
              <a:t>Function : Transfers intake data and alerts between ESP32 and mobile device</a:t>
            </a:r>
          </a:p>
          <a:p>
            <a:r>
              <a:rPr lang="en-IN" sz="1400" dirty="0"/>
              <a:t>Range : ~10 meters</a:t>
            </a:r>
          </a:p>
          <a:p>
            <a:r>
              <a:rPr lang="en-IN" sz="1400" dirty="0"/>
              <a:t>Frequency : 2.4 GHz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337" y="1665299"/>
            <a:ext cx="1041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Why?</a:t>
            </a:r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302782" y="2063413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Enables wireless data transfer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Sends hydration data to mobile app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Supports low power operation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Provides real-time notifications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Power — Supply &amp; Regulation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Trace the complete power path from input to every rail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8288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017520"/>
            <a:ext cx="393192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09160" y="3017520"/>
            <a:ext cx="393192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Rectangle 11"/>
          <p:cNvSpPr/>
          <p:nvPr/>
        </p:nvSpPr>
        <p:spPr>
          <a:xfrm>
            <a:off x="502920" y="1157791"/>
            <a:ext cx="32191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6) 1000mAh Lipo+TP4056 USB-C</a:t>
            </a:r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379297" y="1527123"/>
            <a:ext cx="718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Why?</a:t>
            </a:r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137160" y="1587683"/>
            <a:ext cx="4572000" cy="141577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1600" dirty="0"/>
              <a:t>Provides portable power supply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Supports rechargeable battery operation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Enables USB-C charging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Ensures continuous system operation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" y="3285257"/>
            <a:ext cx="4572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Type : </a:t>
            </a:r>
            <a:r>
              <a:rPr lang="en-US" sz="1400" dirty="0" err="1"/>
              <a:t>LiPo</a:t>
            </a:r>
            <a:r>
              <a:rPr lang="en-US" sz="1400" dirty="0"/>
              <a:t> Battery + Charging Module</a:t>
            </a:r>
          </a:p>
          <a:p>
            <a:r>
              <a:rPr lang="en-US" sz="1400" dirty="0"/>
              <a:t>Battery Capacity : 1000 </a:t>
            </a:r>
            <a:r>
              <a:rPr lang="en-US" sz="1400" dirty="0" err="1"/>
              <a:t>mAh</a:t>
            </a:r>
            <a:endParaRPr lang="en-US" sz="1400" dirty="0"/>
          </a:p>
          <a:p>
            <a:r>
              <a:rPr lang="en-US" sz="1400" dirty="0"/>
              <a:t>Function : Supplies power to ESP32, HX711, OLED, and buzzer</a:t>
            </a:r>
          </a:p>
          <a:p>
            <a:r>
              <a:rPr lang="en-US" sz="1400" dirty="0"/>
              <a:t>Charging Module : TP4056 (USB-C input)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4921" y="1342457"/>
            <a:ext cx="3300570" cy="225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Actuate — Outputs &amp; Feedback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Identify all output and actuation elements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8288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1355" y="2591734"/>
            <a:ext cx="5740434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400" dirty="0"/>
              <a:t>Type : OLED Display (I2C Interface)</a:t>
            </a:r>
          </a:p>
          <a:p>
            <a:r>
              <a:rPr lang="en-US" sz="1400" dirty="0"/>
              <a:t>Size : 0.96 inch (128 × 64 pixels)</a:t>
            </a:r>
          </a:p>
          <a:p>
            <a:r>
              <a:rPr lang="en-US" sz="1400" dirty="0"/>
              <a:t>Function : Displays intake data, progress bar, and system status</a:t>
            </a:r>
          </a:p>
        </p:txBody>
      </p:sp>
      <p:sp>
        <p:nvSpPr>
          <p:cNvPr id="6" name="Text 7"/>
          <p:cNvSpPr/>
          <p:nvPr/>
        </p:nvSpPr>
        <p:spPr>
          <a:xfrm>
            <a:off x="4709160" y="3017520"/>
            <a:ext cx="393192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Rectangle 10"/>
          <p:cNvSpPr/>
          <p:nvPr/>
        </p:nvSpPr>
        <p:spPr>
          <a:xfrm>
            <a:off x="188946" y="1169902"/>
            <a:ext cx="9829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7) OLED </a:t>
            </a:r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182880" y="1581019"/>
            <a:ext cx="4572000" cy="1231106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Low power consumption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Compact and light weight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Fast response 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Suitable for portable systems</a:t>
            </a:r>
            <a:endParaRPr lang="en-IN" sz="1400" dirty="0"/>
          </a:p>
        </p:txBody>
      </p:sp>
      <p:sp>
        <p:nvSpPr>
          <p:cNvPr id="14" name="Rectangle 13"/>
          <p:cNvSpPr/>
          <p:nvPr/>
        </p:nvSpPr>
        <p:spPr>
          <a:xfrm>
            <a:off x="233961" y="1558567"/>
            <a:ext cx="718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Why?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2800" dirty="0"/>
              <a:t>Schematic walkthrough: Analog ground strategy</a:t>
            </a:r>
            <a:endParaRPr lang="en-US" sz="2800" b="1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8288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6" name="Text 7"/>
          <p:cNvSpPr/>
          <p:nvPr/>
        </p:nvSpPr>
        <p:spPr>
          <a:xfrm>
            <a:off x="4603652" y="2885580"/>
            <a:ext cx="393192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188027" y="1306846"/>
            <a:ext cx="825421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Benefits Achieved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Reduced noise coupling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More stable readings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Better gram-level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Improved repeatability</a:t>
            </a:r>
            <a:endParaRPr lang="en-IN" sz="1600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5AAB46-AB74-4667-2A7C-2CF9A243E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775" y="841666"/>
            <a:ext cx="6353365" cy="40275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2800" dirty="0"/>
              <a:t>ERC report</a:t>
            </a:r>
            <a:endParaRPr lang="en-US" sz="2800" b="1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8288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6" name="Text 7"/>
          <p:cNvSpPr/>
          <p:nvPr/>
        </p:nvSpPr>
        <p:spPr>
          <a:xfrm>
            <a:off x="4603652" y="2885580"/>
            <a:ext cx="393192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362243" y="1153889"/>
            <a:ext cx="82788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schematic design was verified using Electrical Rule Check (ERC) in Altium Designer.</a:t>
            </a:r>
          </a:p>
          <a:p>
            <a:r>
              <a:rPr lang="en-US" dirty="0"/>
              <a:t>All electrical connections, power nets, and signal paths were validated successfully.</a:t>
            </a:r>
          </a:p>
          <a:p>
            <a:r>
              <a:rPr lang="en-US" dirty="0"/>
              <a:t>The design meets all required electrical constraints and is ready for implementation.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646" y="2226521"/>
            <a:ext cx="3474965" cy="27427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66" y="305"/>
            <a:ext cx="47608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Software Architecture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481" y="770740"/>
            <a:ext cx="6438144" cy="4292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66530" y="479632"/>
            <a:ext cx="1516936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1.Drivers</a:t>
            </a:r>
            <a:endParaRPr lang="en-IN" sz="20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52" y="724657"/>
            <a:ext cx="6532005" cy="4354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45336" y="333060"/>
            <a:ext cx="2173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2.Communication</a:t>
            </a:r>
            <a:endParaRPr lang="en-IN" sz="20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62" y="750225"/>
            <a:ext cx="2495550" cy="412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342" y="326836"/>
            <a:ext cx="2223076" cy="4816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4501" y="211947"/>
            <a:ext cx="1895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3.Algorithm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212688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15" y="861476"/>
            <a:ext cx="3724275" cy="363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2814" y="563236"/>
            <a:ext cx="2658518" cy="4235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9315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754" y="581339"/>
            <a:ext cx="4022039" cy="4401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2389" y="151391"/>
            <a:ext cx="4971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Detailed Architecture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340945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389" y="151391"/>
            <a:ext cx="4971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Result Screenshots</a:t>
            </a:r>
            <a:endParaRPr lang="en-IN" sz="20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02" y="663727"/>
            <a:ext cx="5359232" cy="4130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88" y="599946"/>
            <a:ext cx="2408248" cy="4402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3161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8" name="Text 5"/>
          <p:cNvSpPr/>
          <p:nvPr/>
        </p:nvSpPr>
        <p:spPr>
          <a:xfrm>
            <a:off x="502920" y="3017520"/>
            <a:ext cx="393192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Text 7"/>
          <p:cNvSpPr/>
          <p:nvPr/>
        </p:nvSpPr>
        <p:spPr>
          <a:xfrm>
            <a:off x="4709160" y="3017520"/>
            <a:ext cx="393192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" name="TextBox 2"/>
          <p:cNvSpPr txBox="1"/>
          <p:nvPr/>
        </p:nvSpPr>
        <p:spPr>
          <a:xfrm>
            <a:off x="99075" y="0"/>
            <a:ext cx="170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BOM:</a:t>
            </a:r>
            <a:endParaRPr lang="en-IN" sz="2800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77576" y="539544"/>
          <a:ext cx="6588849" cy="4500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6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1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92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 </a:t>
                      </a:r>
                      <a:r>
                        <a:rPr lang="en-IN" dirty="0" err="1"/>
                        <a:t>S.No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490"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ESP32 Dev 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3.3V, Dual-core, BLE + </a:t>
                      </a:r>
                      <a:r>
                        <a:rPr lang="en-IN" sz="1200" dirty="0" err="1"/>
                        <a:t>WiFi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₹350 – ₹500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105">
                <a:tc>
                  <a:txBody>
                    <a:bodyPr/>
                    <a:lstStyle/>
                    <a:p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Load cell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5kg, Strain Gauge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₹150 – ₹300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490">
                <a:tc>
                  <a:txBody>
                    <a:bodyPr/>
                    <a:lstStyle/>
                    <a:p>
                      <a:r>
                        <a:rPr lang="en-IN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HX711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24-bit ADC, Gain 128/64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200" dirty="0"/>
                        <a:t>₹80– ₹150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992">
                <a:tc>
                  <a:txBody>
                    <a:bodyPr/>
                    <a:lstStyle/>
                    <a:p>
                      <a:r>
                        <a:rPr lang="en-IN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OLED Display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0.96”, 128×64, I2C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200" dirty="0"/>
                        <a:t>₹120– ₹200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269">
                <a:tc>
                  <a:txBody>
                    <a:bodyPr/>
                    <a:lstStyle/>
                    <a:p>
                      <a:r>
                        <a:rPr lang="en-IN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RTC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I2C, High accuracy, battery backup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200" dirty="0"/>
                        <a:t>₹150– ₹250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992">
                <a:tc>
                  <a:txBody>
                    <a:bodyPr/>
                    <a:lstStyle/>
                    <a:p>
                      <a:r>
                        <a:rPr lang="en-IN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LiPo 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3.7V, 1000mAh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200" dirty="0"/>
                        <a:t>₹150– ₹300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992">
                <a:tc>
                  <a:txBody>
                    <a:bodyPr/>
                    <a:lstStyle/>
                    <a:p>
                      <a:r>
                        <a:rPr lang="en-IN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TP4056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LiPo charger, Type-C/Micro USB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200" dirty="0"/>
                        <a:t>₹50– ₹100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59067">
                <a:tc>
                  <a:txBody>
                    <a:bodyPr/>
                    <a:lstStyle/>
                    <a:p>
                      <a:r>
                        <a:rPr lang="en-IN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PCB / Breadboard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Protype 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200" dirty="0"/>
                        <a:t>₹100– ₹200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05668"/>
              </p:ext>
            </p:extLst>
          </p:nvPr>
        </p:nvGraphicFramePr>
        <p:xfrm>
          <a:off x="1188308" y="723921"/>
          <a:ext cx="6347791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1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0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2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37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3705">
                <a:tc>
                  <a:txBody>
                    <a:bodyPr/>
                    <a:lstStyle/>
                    <a:p>
                      <a:r>
                        <a:rPr lang="en-IN" dirty="0" err="1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Specification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Quantity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9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3.3V compatible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200" dirty="0"/>
                        <a:t>₹10– ₹30</a:t>
                      </a:r>
                    </a:p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Resistors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200" dirty="0"/>
                        <a:t>220Ω (</a:t>
                      </a:r>
                      <a:r>
                        <a:rPr lang="en-IN" sz="1200" dirty="0"/>
                        <a:t>for LED)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200" dirty="0"/>
                        <a:t>₹1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Connecting wires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Jumper wires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200" dirty="0"/>
                        <a:t>₹50– ₹100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USB cable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Type-C / Micro USB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200" dirty="0"/>
                        <a:t>₹50– ₹150</a:t>
                      </a:r>
                    </a:p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Power Budget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8288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6" name="Text 7"/>
          <p:cNvSpPr/>
          <p:nvPr/>
        </p:nvSpPr>
        <p:spPr>
          <a:xfrm>
            <a:off x="4603652" y="2885580"/>
            <a:ext cx="393192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1145400"/>
          <a:ext cx="635390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8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84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84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851">
                <a:tc>
                  <a:txBody>
                    <a:bodyPr/>
                    <a:lstStyle/>
                    <a:p>
                      <a:r>
                        <a:rPr lang="en-US" dirty="0"/>
                        <a:t>Components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Voltage(V)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Current (mA)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Power(</a:t>
                      </a:r>
                      <a:r>
                        <a:rPr lang="en-IN" dirty="0" err="1"/>
                        <a:t>mW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ESP32 (Active + BLE)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80-150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264-495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851">
                <a:tc>
                  <a:txBody>
                    <a:bodyPr/>
                    <a:lstStyle/>
                    <a:p>
                      <a:r>
                        <a:rPr lang="en-IN" dirty="0"/>
                        <a:t>ESP32 (</a:t>
                      </a:r>
                      <a:r>
                        <a:rPr lang="en-IN" dirty="0" err="1"/>
                        <a:t>Avg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851">
                <a:tc>
                  <a:txBody>
                    <a:bodyPr/>
                    <a:lstStyle/>
                    <a:p>
                      <a:r>
                        <a:rPr lang="en-IN" dirty="0"/>
                        <a:t>ESP32 (Sleep)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0.01-0.15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0.03-05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851">
                <a:tc>
                  <a:txBody>
                    <a:bodyPr/>
                    <a:lstStyle/>
                    <a:p>
                      <a:r>
                        <a:rPr lang="en-IN" dirty="0"/>
                        <a:t>HX711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851">
                <a:tc>
                  <a:txBody>
                    <a:bodyPr/>
                    <a:lstStyle/>
                    <a:p>
                      <a:r>
                        <a:rPr lang="en-IN" dirty="0"/>
                        <a:t>Load 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851">
                <a:tc>
                  <a:txBody>
                    <a:bodyPr/>
                    <a:lstStyle/>
                    <a:p>
                      <a:r>
                        <a:rPr lang="en-IN" dirty="0"/>
                        <a:t>OLED 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50-82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851">
                <a:tc>
                  <a:txBody>
                    <a:bodyPr/>
                    <a:lstStyle/>
                    <a:p>
                      <a:r>
                        <a:rPr lang="en-IN" dirty="0"/>
                        <a:t>RTC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6851">
                <a:tc>
                  <a:txBody>
                    <a:bodyPr/>
                    <a:lstStyle/>
                    <a:p>
                      <a:r>
                        <a:rPr lang="en-IN" dirty="0"/>
                        <a:t>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16.5-33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Teardown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371600" cy="0"/>
          </a:xfrm>
          <a:prstGeom prst="line">
            <a:avLst/>
          </a:prstGeom>
          <a:noFill/>
          <a:ln w="3175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3840480" cy="374904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6" name="Text 4"/>
          <p:cNvSpPr/>
          <p:nvPr/>
        </p:nvSpPr>
        <p:spPr>
          <a:xfrm>
            <a:off x="685800" y="123444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Team Information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572768"/>
            <a:ext cx="109728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91640"/>
            <a:ext cx="347472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Team Name:  Connective Minds</a:t>
            </a:r>
            <a:endParaRPr lang="en-US" sz="1100" dirty="0"/>
          </a:p>
          <a:p>
            <a:r>
              <a:rPr lang="en-US" sz="1100" dirty="0">
                <a:solidFill>
                  <a:srgbClr val="9A9AB0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Topic : Smart Coaster Hydration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Members: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 1. </a:t>
            </a:r>
            <a:r>
              <a:rPr lang="en-US" sz="1100" dirty="0" err="1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Aishwarya</a:t>
            </a:r>
            <a:r>
              <a:rPr lang="en-US" sz="11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Y 01FE23BEC267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 2. </a:t>
            </a:r>
            <a:r>
              <a:rPr lang="en-US" sz="1100" dirty="0" err="1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Nikhita</a:t>
            </a:r>
            <a:r>
              <a:rPr lang="en-US" sz="11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100" dirty="0" err="1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Naik</a:t>
            </a:r>
            <a:r>
              <a:rPr lang="en-US" sz="11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01FE23BEC270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 3. </a:t>
            </a:r>
            <a:r>
              <a:rPr lang="en-US" sz="1100" dirty="0" err="1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Sahana</a:t>
            </a:r>
            <a:r>
              <a:rPr lang="en-US" sz="11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I G   01FE23BEC284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A9AB0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    4. </a:t>
            </a:r>
            <a:r>
              <a:rPr lang="en-US" sz="1100" dirty="0" err="1">
                <a:solidFill>
                  <a:srgbClr val="9A9AB0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Vani</a:t>
            </a:r>
            <a:r>
              <a:rPr lang="en-US" sz="1100" dirty="0">
                <a:solidFill>
                  <a:srgbClr val="9A9AB0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 S K       01FE23BEC285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097280"/>
            <a:ext cx="4023360" cy="374904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10" name="Text 8"/>
          <p:cNvSpPr/>
          <p:nvPr/>
        </p:nvSpPr>
        <p:spPr>
          <a:xfrm>
            <a:off x="4800600" y="123444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Submission Checklist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00600" y="1572768"/>
            <a:ext cx="109728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737360"/>
            <a:ext cx="146304" cy="146304"/>
          </a:xfrm>
          <a:prstGeom prst="rect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7488" y="1719072"/>
            <a:ext cx="341071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overview with photo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2002536"/>
            <a:ext cx="146304" cy="146304"/>
          </a:xfrm>
          <a:prstGeom prst="rect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7488" y="1984248"/>
            <a:ext cx="341071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block diagram (5 subsystems)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267712"/>
            <a:ext cx="146304" cy="146304"/>
          </a:xfrm>
          <a:prstGeom prst="rect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2249424"/>
            <a:ext cx="341071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Sense — ICs, interfaces, 3–4 features each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532888"/>
            <a:ext cx="146304" cy="146304"/>
          </a:xfrm>
          <a:prstGeom prst="rect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7488" y="2514600"/>
            <a:ext cx="341071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Process — MCU/SoC, memory, peripherals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798064"/>
            <a:ext cx="146304" cy="146304"/>
          </a:xfrm>
          <a:prstGeom prst="rect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2779776"/>
            <a:ext cx="341071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Communicate — Protocol, antenna, RF details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3063240"/>
            <a:ext cx="146304" cy="146304"/>
          </a:xfrm>
          <a:prstGeom prst="rect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3044952"/>
            <a:ext cx="341071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Power — Full supply chain, regulators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328416"/>
            <a:ext cx="146304" cy="146304"/>
          </a:xfrm>
          <a:prstGeom prst="rect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3310128"/>
            <a:ext cx="341071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Actuate — Outputs, drivers, feedback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593592"/>
            <a:ext cx="146304" cy="146304"/>
          </a:xfrm>
          <a:prstGeom prst="rect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3575304"/>
            <a:ext cx="341071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Annotated PCB photos (front &amp; back)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858768"/>
            <a:ext cx="146304" cy="146304"/>
          </a:xfrm>
          <a:prstGeom prst="rect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3840480"/>
            <a:ext cx="341071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Complete component map with datasheets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4123944"/>
            <a:ext cx="146304" cy="146304"/>
          </a:xfrm>
          <a:prstGeom prst="rect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4105656"/>
            <a:ext cx="341071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learnings and observations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1306</Words>
  <Application>Microsoft Office PowerPoint</Application>
  <PresentationFormat>On-screen Show (16:9)</PresentationFormat>
  <Paragraphs>304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Product Teardown — Analysis Template</dc:title>
  <dc:subject>PptxGenJS Presentation</dc:subject>
  <dc:creator>Chethan Shettar</dc:creator>
  <cp:lastModifiedBy>user</cp:lastModifiedBy>
  <cp:revision>33</cp:revision>
  <dcterms:created xsi:type="dcterms:W3CDTF">2026-04-01T07:39:00Z</dcterms:created>
  <dcterms:modified xsi:type="dcterms:W3CDTF">2026-06-13T03:44:08Z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A199B61D2FA248C5BE9539E53CFFF8C2_12</vt:lpwstr>
  </property>
</Properties>
</file>